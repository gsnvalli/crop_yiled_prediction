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8" r:id="rId4"/>
    <p:sldId id="259" r:id="rId5"/>
    <p:sldId id="264" r:id="rId6"/>
    <p:sldId id="257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892D0F-9F97-4EB4-AEC6-38E2E88EE701}" v="770" dt="2026-02-12T16:34:39.568"/>
    <p1510:client id="{C4115953-DD2F-BB30-7FF9-E678046240E1}" v="9" dt="2026-02-13T13:26:59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8811D6-5ECD-4565-945B-797509C1A7D2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8B32A4A-ED41-43C6-803B-B88F4E7933E8}">
      <dgm:prSet/>
      <dgm:spPr/>
      <dgm:t>
        <a:bodyPr/>
        <a:lstStyle/>
        <a:p>
          <a:r>
            <a:rPr lang="en-US"/>
            <a:t>Predict</a:t>
          </a:r>
        </a:p>
      </dgm:t>
    </dgm:pt>
    <dgm:pt modelId="{EAA14408-E225-466A-B873-AA7EFC23DD67}" type="parTrans" cxnId="{120AE5EC-DD7B-4BCF-9216-36325F131899}">
      <dgm:prSet/>
      <dgm:spPr/>
      <dgm:t>
        <a:bodyPr/>
        <a:lstStyle/>
        <a:p>
          <a:endParaRPr lang="en-US"/>
        </a:p>
      </dgm:t>
    </dgm:pt>
    <dgm:pt modelId="{FE2C504B-5373-4004-A190-69571B11EDDE}" type="sibTrans" cxnId="{120AE5EC-DD7B-4BCF-9216-36325F131899}">
      <dgm:prSet/>
      <dgm:spPr/>
      <dgm:t>
        <a:bodyPr/>
        <a:lstStyle/>
        <a:p>
          <a:endParaRPr lang="en-US"/>
        </a:p>
      </dgm:t>
    </dgm:pt>
    <dgm:pt modelId="{6C396ED9-197C-42D7-BAC0-6BBFCDFA1222}">
      <dgm:prSet/>
      <dgm:spPr/>
      <dgm:t>
        <a:bodyPr/>
        <a:lstStyle/>
        <a:p>
          <a:r>
            <a:rPr lang="en-US"/>
            <a:t>Predict Agricultural crop yield using environmental and soil factors</a:t>
          </a:r>
        </a:p>
      </dgm:t>
    </dgm:pt>
    <dgm:pt modelId="{DEEF9EFA-9DD7-47D5-906D-4FD17DCACF44}" type="parTrans" cxnId="{9DE1BA6F-B7E3-46CC-A5C7-9DF6F6230599}">
      <dgm:prSet/>
      <dgm:spPr/>
      <dgm:t>
        <a:bodyPr/>
        <a:lstStyle/>
        <a:p>
          <a:endParaRPr lang="en-US"/>
        </a:p>
      </dgm:t>
    </dgm:pt>
    <dgm:pt modelId="{623CF8D7-7B29-47BD-AB77-056A1D4BB30A}" type="sibTrans" cxnId="{9DE1BA6F-B7E3-46CC-A5C7-9DF6F6230599}">
      <dgm:prSet/>
      <dgm:spPr/>
      <dgm:t>
        <a:bodyPr/>
        <a:lstStyle/>
        <a:p>
          <a:endParaRPr lang="en-US"/>
        </a:p>
      </dgm:t>
    </dgm:pt>
    <dgm:pt modelId="{99017059-2CDF-422E-932A-DFCDDCAD99D6}">
      <dgm:prSet/>
      <dgm:spPr/>
      <dgm:t>
        <a:bodyPr/>
        <a:lstStyle/>
        <a:p>
          <a:r>
            <a:rPr lang="en-US"/>
            <a:t>Improve</a:t>
          </a:r>
        </a:p>
      </dgm:t>
    </dgm:pt>
    <dgm:pt modelId="{C1BC50DB-9E31-474F-B432-2D63F47C90DD}" type="parTrans" cxnId="{BBBD1D22-CC7C-4876-B0E3-73AAE510C4E0}">
      <dgm:prSet/>
      <dgm:spPr/>
      <dgm:t>
        <a:bodyPr/>
        <a:lstStyle/>
        <a:p>
          <a:endParaRPr lang="en-US"/>
        </a:p>
      </dgm:t>
    </dgm:pt>
    <dgm:pt modelId="{C71E6426-F6CF-4A4D-B021-E70D511C2843}" type="sibTrans" cxnId="{BBBD1D22-CC7C-4876-B0E3-73AAE510C4E0}">
      <dgm:prSet/>
      <dgm:spPr/>
      <dgm:t>
        <a:bodyPr/>
        <a:lstStyle/>
        <a:p>
          <a:endParaRPr lang="en-US"/>
        </a:p>
      </dgm:t>
    </dgm:pt>
    <dgm:pt modelId="{914F9243-D0A8-4249-B782-32BCA73AAAE7}">
      <dgm:prSet/>
      <dgm:spPr/>
      <dgm:t>
        <a:bodyPr/>
        <a:lstStyle/>
        <a:p>
          <a:r>
            <a:rPr lang="en-US"/>
            <a:t>Improve decision making for farmers</a:t>
          </a:r>
        </a:p>
      </dgm:t>
    </dgm:pt>
    <dgm:pt modelId="{0693FD45-A0DC-49FF-AC88-FDDB11D28201}" type="parTrans" cxnId="{FFEEEECB-1D23-44F2-B7B1-EFD3EFF00AC4}">
      <dgm:prSet/>
      <dgm:spPr/>
      <dgm:t>
        <a:bodyPr/>
        <a:lstStyle/>
        <a:p>
          <a:endParaRPr lang="en-US"/>
        </a:p>
      </dgm:t>
    </dgm:pt>
    <dgm:pt modelId="{5B93D07E-EEAD-4511-A78E-11795D43ED9C}" type="sibTrans" cxnId="{FFEEEECB-1D23-44F2-B7B1-EFD3EFF00AC4}">
      <dgm:prSet/>
      <dgm:spPr/>
      <dgm:t>
        <a:bodyPr/>
        <a:lstStyle/>
        <a:p>
          <a:endParaRPr lang="en-US"/>
        </a:p>
      </dgm:t>
    </dgm:pt>
    <dgm:pt modelId="{0F78FEF7-AA5B-4BC5-8FCE-F716CBAFB996}">
      <dgm:prSet/>
      <dgm:spPr/>
      <dgm:t>
        <a:bodyPr/>
        <a:lstStyle/>
        <a:p>
          <a:r>
            <a:rPr lang="en-US"/>
            <a:t>Reduce</a:t>
          </a:r>
        </a:p>
      </dgm:t>
    </dgm:pt>
    <dgm:pt modelId="{645E9281-D3F7-4D16-9C5E-8ED5A46AD0DD}" type="parTrans" cxnId="{A934CEEB-01CC-47CF-93CB-1ABA89299A34}">
      <dgm:prSet/>
      <dgm:spPr/>
      <dgm:t>
        <a:bodyPr/>
        <a:lstStyle/>
        <a:p>
          <a:endParaRPr lang="en-US"/>
        </a:p>
      </dgm:t>
    </dgm:pt>
    <dgm:pt modelId="{7A7EA4F5-D6BB-498B-9F60-71F37A757D5B}" type="sibTrans" cxnId="{A934CEEB-01CC-47CF-93CB-1ABA89299A34}">
      <dgm:prSet/>
      <dgm:spPr/>
      <dgm:t>
        <a:bodyPr/>
        <a:lstStyle/>
        <a:p>
          <a:endParaRPr lang="en-US"/>
        </a:p>
      </dgm:t>
    </dgm:pt>
    <dgm:pt modelId="{2CC78096-790C-4FA2-949F-4822F2A5D905}">
      <dgm:prSet/>
      <dgm:spPr/>
      <dgm:t>
        <a:bodyPr/>
        <a:lstStyle/>
        <a:p>
          <a:r>
            <a:rPr lang="en-US"/>
            <a:t>Reduce uncertainty in crop production</a:t>
          </a:r>
        </a:p>
      </dgm:t>
    </dgm:pt>
    <dgm:pt modelId="{E3E88801-BAEF-4DAC-89C7-A5EAB04EE96D}" type="parTrans" cxnId="{23DFDCC5-AC57-4CC7-BDD1-2996A0E685DF}">
      <dgm:prSet/>
      <dgm:spPr/>
      <dgm:t>
        <a:bodyPr/>
        <a:lstStyle/>
        <a:p>
          <a:endParaRPr lang="en-US"/>
        </a:p>
      </dgm:t>
    </dgm:pt>
    <dgm:pt modelId="{62C21B27-1CEF-4738-AFFD-56AFD61ABF5E}" type="sibTrans" cxnId="{23DFDCC5-AC57-4CC7-BDD1-2996A0E685DF}">
      <dgm:prSet/>
      <dgm:spPr/>
      <dgm:t>
        <a:bodyPr/>
        <a:lstStyle/>
        <a:p>
          <a:endParaRPr lang="en-US"/>
        </a:p>
      </dgm:t>
    </dgm:pt>
    <dgm:pt modelId="{E837C547-E952-49CC-84B3-4E09FC034309}" type="pres">
      <dgm:prSet presAssocID="{978811D6-5ECD-4565-945B-797509C1A7D2}" presName="Name0" presStyleCnt="0">
        <dgm:presLayoutVars>
          <dgm:dir/>
          <dgm:animLvl val="lvl"/>
          <dgm:resizeHandles val="exact"/>
        </dgm:presLayoutVars>
      </dgm:prSet>
      <dgm:spPr/>
    </dgm:pt>
    <dgm:pt modelId="{AC58CAE9-FF67-4C72-8F95-0F24D75BF087}" type="pres">
      <dgm:prSet presAssocID="{48B32A4A-ED41-43C6-803B-B88F4E7933E8}" presName="linNode" presStyleCnt="0"/>
      <dgm:spPr/>
    </dgm:pt>
    <dgm:pt modelId="{22D52788-0E38-4BE5-81D8-32A22DCD1711}" type="pres">
      <dgm:prSet presAssocID="{48B32A4A-ED41-43C6-803B-B88F4E7933E8}" presName="parentText" presStyleLbl="solidFgAcc1" presStyleIdx="0" presStyleCnt="3">
        <dgm:presLayoutVars>
          <dgm:chMax val="1"/>
          <dgm:bulletEnabled/>
        </dgm:presLayoutVars>
      </dgm:prSet>
      <dgm:spPr/>
    </dgm:pt>
    <dgm:pt modelId="{70CA0C5B-AD94-49A3-98E1-74B95CC5EFA6}" type="pres">
      <dgm:prSet presAssocID="{48B32A4A-ED41-43C6-803B-B88F4E7933E8}" presName="descendantText" presStyleLbl="alignNode1" presStyleIdx="0" presStyleCnt="3">
        <dgm:presLayoutVars>
          <dgm:bulletEnabled/>
        </dgm:presLayoutVars>
      </dgm:prSet>
      <dgm:spPr/>
    </dgm:pt>
    <dgm:pt modelId="{3371935F-9D2A-4DDB-8624-3E155044B226}" type="pres">
      <dgm:prSet presAssocID="{FE2C504B-5373-4004-A190-69571B11EDDE}" presName="sp" presStyleCnt="0"/>
      <dgm:spPr/>
    </dgm:pt>
    <dgm:pt modelId="{23CAC9DA-9BD3-4BFA-AB22-0E4DD16B4E3A}" type="pres">
      <dgm:prSet presAssocID="{99017059-2CDF-422E-932A-DFCDDCAD99D6}" presName="linNode" presStyleCnt="0"/>
      <dgm:spPr/>
    </dgm:pt>
    <dgm:pt modelId="{374CDBCA-407D-44C2-9C11-E81AA15C5DE4}" type="pres">
      <dgm:prSet presAssocID="{99017059-2CDF-422E-932A-DFCDDCAD99D6}" presName="parentText" presStyleLbl="solidFgAcc1" presStyleIdx="1" presStyleCnt="3">
        <dgm:presLayoutVars>
          <dgm:chMax val="1"/>
          <dgm:bulletEnabled/>
        </dgm:presLayoutVars>
      </dgm:prSet>
      <dgm:spPr/>
    </dgm:pt>
    <dgm:pt modelId="{ED51B62B-3EF2-4487-8093-2B51D7D91A27}" type="pres">
      <dgm:prSet presAssocID="{99017059-2CDF-422E-932A-DFCDDCAD99D6}" presName="descendantText" presStyleLbl="alignNode1" presStyleIdx="1" presStyleCnt="3">
        <dgm:presLayoutVars>
          <dgm:bulletEnabled/>
        </dgm:presLayoutVars>
      </dgm:prSet>
      <dgm:spPr/>
    </dgm:pt>
    <dgm:pt modelId="{6F1D8685-B6FF-418E-9A6A-2A0329BB1023}" type="pres">
      <dgm:prSet presAssocID="{C71E6426-F6CF-4A4D-B021-E70D511C2843}" presName="sp" presStyleCnt="0"/>
      <dgm:spPr/>
    </dgm:pt>
    <dgm:pt modelId="{25B80055-D0A7-46A3-8ACF-C14A2F358163}" type="pres">
      <dgm:prSet presAssocID="{0F78FEF7-AA5B-4BC5-8FCE-F716CBAFB996}" presName="linNode" presStyleCnt="0"/>
      <dgm:spPr/>
    </dgm:pt>
    <dgm:pt modelId="{F973297A-24D6-468A-BE14-73A0B4F6BD68}" type="pres">
      <dgm:prSet presAssocID="{0F78FEF7-AA5B-4BC5-8FCE-F716CBAFB996}" presName="parentText" presStyleLbl="solidFgAcc1" presStyleIdx="2" presStyleCnt="3">
        <dgm:presLayoutVars>
          <dgm:chMax val="1"/>
          <dgm:bulletEnabled/>
        </dgm:presLayoutVars>
      </dgm:prSet>
      <dgm:spPr/>
    </dgm:pt>
    <dgm:pt modelId="{8E01D29B-BC8D-484E-A70D-92B3BB3B4605}" type="pres">
      <dgm:prSet presAssocID="{0F78FEF7-AA5B-4BC5-8FCE-F716CBAFB996}" presName="descendantText" presStyleLbl="alignNode1" presStyleIdx="2" presStyleCnt="3">
        <dgm:presLayoutVars>
          <dgm:bulletEnabled/>
        </dgm:presLayoutVars>
      </dgm:prSet>
      <dgm:spPr/>
    </dgm:pt>
  </dgm:ptLst>
  <dgm:cxnLst>
    <dgm:cxn modelId="{8E7D8007-D4B4-4694-95D6-CB70F9DBCCF6}" type="presOf" srcId="{48B32A4A-ED41-43C6-803B-B88F4E7933E8}" destId="{22D52788-0E38-4BE5-81D8-32A22DCD1711}" srcOrd="0" destOrd="0" presId="urn:microsoft.com/office/officeart/2016/7/layout/VerticalHollowActionList"/>
    <dgm:cxn modelId="{E6810919-CDAE-4891-872E-A4832DD848E5}" type="presOf" srcId="{978811D6-5ECD-4565-945B-797509C1A7D2}" destId="{E837C547-E952-49CC-84B3-4E09FC034309}" srcOrd="0" destOrd="0" presId="urn:microsoft.com/office/officeart/2016/7/layout/VerticalHollowActionList"/>
    <dgm:cxn modelId="{BBBD1D22-CC7C-4876-B0E3-73AAE510C4E0}" srcId="{978811D6-5ECD-4565-945B-797509C1A7D2}" destId="{99017059-2CDF-422E-932A-DFCDDCAD99D6}" srcOrd="1" destOrd="0" parTransId="{C1BC50DB-9E31-474F-B432-2D63F47C90DD}" sibTransId="{C71E6426-F6CF-4A4D-B021-E70D511C2843}"/>
    <dgm:cxn modelId="{2805714F-663F-4B4A-A856-0A361D427777}" type="presOf" srcId="{0F78FEF7-AA5B-4BC5-8FCE-F716CBAFB996}" destId="{F973297A-24D6-468A-BE14-73A0B4F6BD68}" srcOrd="0" destOrd="0" presId="urn:microsoft.com/office/officeart/2016/7/layout/VerticalHollowActionList"/>
    <dgm:cxn modelId="{9DE1BA6F-B7E3-46CC-A5C7-9DF6F6230599}" srcId="{48B32A4A-ED41-43C6-803B-B88F4E7933E8}" destId="{6C396ED9-197C-42D7-BAC0-6BBFCDFA1222}" srcOrd="0" destOrd="0" parTransId="{DEEF9EFA-9DD7-47D5-906D-4FD17DCACF44}" sibTransId="{623CF8D7-7B29-47BD-AB77-056A1D4BB30A}"/>
    <dgm:cxn modelId="{7D76B786-0DAB-4542-A6B9-45E6E3907668}" type="presOf" srcId="{914F9243-D0A8-4249-B782-32BCA73AAAE7}" destId="{ED51B62B-3EF2-4487-8093-2B51D7D91A27}" srcOrd="0" destOrd="0" presId="urn:microsoft.com/office/officeart/2016/7/layout/VerticalHollowActionList"/>
    <dgm:cxn modelId="{1B5DD898-1385-40FA-87A0-8C0136A9CF34}" type="presOf" srcId="{99017059-2CDF-422E-932A-DFCDDCAD99D6}" destId="{374CDBCA-407D-44C2-9C11-E81AA15C5DE4}" srcOrd="0" destOrd="0" presId="urn:microsoft.com/office/officeart/2016/7/layout/VerticalHollowActionList"/>
    <dgm:cxn modelId="{23DFDCC5-AC57-4CC7-BDD1-2996A0E685DF}" srcId="{0F78FEF7-AA5B-4BC5-8FCE-F716CBAFB996}" destId="{2CC78096-790C-4FA2-949F-4822F2A5D905}" srcOrd="0" destOrd="0" parTransId="{E3E88801-BAEF-4DAC-89C7-A5EAB04EE96D}" sibTransId="{62C21B27-1CEF-4738-AFFD-56AFD61ABF5E}"/>
    <dgm:cxn modelId="{FFEEEECB-1D23-44F2-B7B1-EFD3EFF00AC4}" srcId="{99017059-2CDF-422E-932A-DFCDDCAD99D6}" destId="{914F9243-D0A8-4249-B782-32BCA73AAAE7}" srcOrd="0" destOrd="0" parTransId="{0693FD45-A0DC-49FF-AC88-FDDB11D28201}" sibTransId="{5B93D07E-EEAD-4511-A78E-11795D43ED9C}"/>
    <dgm:cxn modelId="{E8A256DC-852C-43C8-B596-A3942B5F4AC6}" type="presOf" srcId="{2CC78096-790C-4FA2-949F-4822F2A5D905}" destId="{8E01D29B-BC8D-484E-A70D-92B3BB3B4605}" srcOrd="0" destOrd="0" presId="urn:microsoft.com/office/officeart/2016/7/layout/VerticalHollowActionList"/>
    <dgm:cxn modelId="{24D88EE0-FB6F-4A36-86BC-6C2045CF1A78}" type="presOf" srcId="{6C396ED9-197C-42D7-BAC0-6BBFCDFA1222}" destId="{70CA0C5B-AD94-49A3-98E1-74B95CC5EFA6}" srcOrd="0" destOrd="0" presId="urn:microsoft.com/office/officeart/2016/7/layout/VerticalHollowActionList"/>
    <dgm:cxn modelId="{A934CEEB-01CC-47CF-93CB-1ABA89299A34}" srcId="{978811D6-5ECD-4565-945B-797509C1A7D2}" destId="{0F78FEF7-AA5B-4BC5-8FCE-F716CBAFB996}" srcOrd="2" destOrd="0" parTransId="{645E9281-D3F7-4D16-9C5E-8ED5A46AD0DD}" sibTransId="{7A7EA4F5-D6BB-498B-9F60-71F37A757D5B}"/>
    <dgm:cxn modelId="{120AE5EC-DD7B-4BCF-9216-36325F131899}" srcId="{978811D6-5ECD-4565-945B-797509C1A7D2}" destId="{48B32A4A-ED41-43C6-803B-B88F4E7933E8}" srcOrd="0" destOrd="0" parTransId="{EAA14408-E225-466A-B873-AA7EFC23DD67}" sibTransId="{FE2C504B-5373-4004-A190-69571B11EDDE}"/>
    <dgm:cxn modelId="{69695C0A-04F2-4CDC-A5CA-8927208D884E}" type="presParOf" srcId="{E837C547-E952-49CC-84B3-4E09FC034309}" destId="{AC58CAE9-FF67-4C72-8F95-0F24D75BF087}" srcOrd="0" destOrd="0" presId="urn:microsoft.com/office/officeart/2016/7/layout/VerticalHollowActionList"/>
    <dgm:cxn modelId="{C92A6AA8-A018-4B3E-90AC-C1E8976E726C}" type="presParOf" srcId="{AC58CAE9-FF67-4C72-8F95-0F24D75BF087}" destId="{22D52788-0E38-4BE5-81D8-32A22DCD1711}" srcOrd="0" destOrd="0" presId="urn:microsoft.com/office/officeart/2016/7/layout/VerticalHollowActionList"/>
    <dgm:cxn modelId="{EBB388E5-BFAA-45BA-9629-A66CC15A2FCD}" type="presParOf" srcId="{AC58CAE9-FF67-4C72-8F95-0F24D75BF087}" destId="{70CA0C5B-AD94-49A3-98E1-74B95CC5EFA6}" srcOrd="1" destOrd="0" presId="urn:microsoft.com/office/officeart/2016/7/layout/VerticalHollowActionList"/>
    <dgm:cxn modelId="{4030D9B3-3E07-4D79-B0AA-27415D644AE9}" type="presParOf" srcId="{E837C547-E952-49CC-84B3-4E09FC034309}" destId="{3371935F-9D2A-4DDB-8624-3E155044B226}" srcOrd="1" destOrd="0" presId="urn:microsoft.com/office/officeart/2016/7/layout/VerticalHollowActionList"/>
    <dgm:cxn modelId="{6CDD6A4B-100A-456C-9C4F-5C501C3DE8CF}" type="presParOf" srcId="{E837C547-E952-49CC-84B3-4E09FC034309}" destId="{23CAC9DA-9BD3-4BFA-AB22-0E4DD16B4E3A}" srcOrd="2" destOrd="0" presId="urn:microsoft.com/office/officeart/2016/7/layout/VerticalHollowActionList"/>
    <dgm:cxn modelId="{A8CBCE4E-73F2-4B1D-9B5C-C31F48E2911C}" type="presParOf" srcId="{23CAC9DA-9BD3-4BFA-AB22-0E4DD16B4E3A}" destId="{374CDBCA-407D-44C2-9C11-E81AA15C5DE4}" srcOrd="0" destOrd="0" presId="urn:microsoft.com/office/officeart/2016/7/layout/VerticalHollowActionList"/>
    <dgm:cxn modelId="{441E7874-0DC9-4CF6-B2FE-B661525C0641}" type="presParOf" srcId="{23CAC9DA-9BD3-4BFA-AB22-0E4DD16B4E3A}" destId="{ED51B62B-3EF2-4487-8093-2B51D7D91A27}" srcOrd="1" destOrd="0" presId="urn:microsoft.com/office/officeart/2016/7/layout/VerticalHollowActionList"/>
    <dgm:cxn modelId="{125FF960-CF4D-45B2-B989-B3B406D5BE25}" type="presParOf" srcId="{E837C547-E952-49CC-84B3-4E09FC034309}" destId="{6F1D8685-B6FF-418E-9A6A-2A0329BB1023}" srcOrd="3" destOrd="0" presId="urn:microsoft.com/office/officeart/2016/7/layout/VerticalHollowActionList"/>
    <dgm:cxn modelId="{EAA80F27-752E-429C-9F5A-41BE0F0262ED}" type="presParOf" srcId="{E837C547-E952-49CC-84B3-4E09FC034309}" destId="{25B80055-D0A7-46A3-8ACF-C14A2F358163}" srcOrd="4" destOrd="0" presId="urn:microsoft.com/office/officeart/2016/7/layout/VerticalHollowActionList"/>
    <dgm:cxn modelId="{D083F2A0-8058-4B00-9E69-E866CA2CDC88}" type="presParOf" srcId="{25B80055-D0A7-46A3-8ACF-C14A2F358163}" destId="{F973297A-24D6-468A-BE14-73A0B4F6BD68}" srcOrd="0" destOrd="0" presId="urn:microsoft.com/office/officeart/2016/7/layout/VerticalHollowActionList"/>
    <dgm:cxn modelId="{34ED6AAC-BCA0-4EE7-89CC-DCE1D5B1B2F3}" type="presParOf" srcId="{25B80055-D0A7-46A3-8ACF-C14A2F358163}" destId="{8E01D29B-BC8D-484E-A70D-92B3BB3B4605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CA0C5B-AD94-49A3-98E1-74B95CC5EFA6}">
      <dsp:nvSpPr>
        <dsp:cNvPr id="0" name=""/>
        <dsp:cNvSpPr/>
      </dsp:nvSpPr>
      <dsp:spPr>
        <a:xfrm>
          <a:off x="1333366" y="1704"/>
          <a:ext cx="5333466" cy="1746958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443728" rIns="103484" bIns="44372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Predict Agricultural crop yield using environmental and soil factors</a:t>
          </a:r>
        </a:p>
      </dsp:txBody>
      <dsp:txXfrm>
        <a:off x="1333366" y="1704"/>
        <a:ext cx="5333466" cy="1746958"/>
      </dsp:txXfrm>
    </dsp:sp>
    <dsp:sp modelId="{22D52788-0E38-4BE5-81D8-32A22DCD1711}">
      <dsp:nvSpPr>
        <dsp:cNvPr id="0" name=""/>
        <dsp:cNvSpPr/>
      </dsp:nvSpPr>
      <dsp:spPr>
        <a:xfrm>
          <a:off x="0" y="1704"/>
          <a:ext cx="1333366" cy="17469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172561" rIns="70557" bIns="17256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Predict</a:t>
          </a:r>
        </a:p>
      </dsp:txBody>
      <dsp:txXfrm>
        <a:off x="0" y="1704"/>
        <a:ext cx="1333366" cy="1746958"/>
      </dsp:txXfrm>
    </dsp:sp>
    <dsp:sp modelId="{ED51B62B-3EF2-4487-8093-2B51D7D91A27}">
      <dsp:nvSpPr>
        <dsp:cNvPr id="0" name=""/>
        <dsp:cNvSpPr/>
      </dsp:nvSpPr>
      <dsp:spPr>
        <a:xfrm>
          <a:off x="1333366" y="1853480"/>
          <a:ext cx="5333466" cy="1746958"/>
        </a:xfrm>
        <a:prstGeom prst="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443728" rIns="103484" bIns="44372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Improve decision making for farmers</a:t>
          </a:r>
        </a:p>
      </dsp:txBody>
      <dsp:txXfrm>
        <a:off x="1333366" y="1853480"/>
        <a:ext cx="5333466" cy="1746958"/>
      </dsp:txXfrm>
    </dsp:sp>
    <dsp:sp modelId="{374CDBCA-407D-44C2-9C11-E81AA15C5DE4}">
      <dsp:nvSpPr>
        <dsp:cNvPr id="0" name=""/>
        <dsp:cNvSpPr/>
      </dsp:nvSpPr>
      <dsp:spPr>
        <a:xfrm>
          <a:off x="0" y="1853480"/>
          <a:ext cx="1333366" cy="17469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172561" rIns="70557" bIns="17256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Improve</a:t>
          </a:r>
        </a:p>
      </dsp:txBody>
      <dsp:txXfrm>
        <a:off x="0" y="1853480"/>
        <a:ext cx="1333366" cy="1746958"/>
      </dsp:txXfrm>
    </dsp:sp>
    <dsp:sp modelId="{8E01D29B-BC8D-484E-A70D-92B3BB3B4605}">
      <dsp:nvSpPr>
        <dsp:cNvPr id="0" name=""/>
        <dsp:cNvSpPr/>
      </dsp:nvSpPr>
      <dsp:spPr>
        <a:xfrm>
          <a:off x="1333366" y="3705256"/>
          <a:ext cx="5333466" cy="1746958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84" tIns="443728" rIns="103484" bIns="44372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Reduce uncertainty in crop production</a:t>
          </a:r>
        </a:p>
      </dsp:txBody>
      <dsp:txXfrm>
        <a:off x="1333366" y="3705256"/>
        <a:ext cx="5333466" cy="1746958"/>
      </dsp:txXfrm>
    </dsp:sp>
    <dsp:sp modelId="{F973297A-24D6-468A-BE14-73A0B4F6BD68}">
      <dsp:nvSpPr>
        <dsp:cNvPr id="0" name=""/>
        <dsp:cNvSpPr/>
      </dsp:nvSpPr>
      <dsp:spPr>
        <a:xfrm>
          <a:off x="0" y="3705256"/>
          <a:ext cx="1333366" cy="174695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57" tIns="172561" rIns="70557" bIns="17256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Reduce</a:t>
          </a:r>
        </a:p>
      </dsp:txBody>
      <dsp:txXfrm>
        <a:off x="0" y="3705256"/>
        <a:ext cx="1333366" cy="17469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>
                <a:ea typeface="+mj-lt"/>
                <a:cs typeface="+mj-lt"/>
              </a:rPr>
              <a:t>Crop Yield Prediction using Environmental Data</a:t>
            </a:r>
            <a:endParaRPr lang="en-US" sz="72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en-US" dirty="0"/>
              <a:t>                                                                                      By </a:t>
            </a:r>
            <a:r>
              <a:rPr lang="en-US" noProof="1"/>
              <a:t>Sivanagavalli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C0E94-69FD-8B9E-D329-4B6E66589EF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Objective : Predict Crop yield(tons per ha)</a:t>
            </a:r>
          </a:p>
          <a:p>
            <a:r>
              <a:rPr lang="en-US" dirty="0"/>
              <a:t>Algorithm : </a:t>
            </a:r>
            <a:r>
              <a:rPr lang="en-US" noProof="1"/>
              <a:t>RandomForestRegressor</a:t>
            </a:r>
          </a:p>
          <a:p>
            <a:r>
              <a:rPr lang="en-US" dirty="0"/>
              <a:t>Domain : Agriculture/Machine Learning</a:t>
            </a:r>
          </a:p>
          <a:p>
            <a:r>
              <a:rPr lang="en-US" dirty="0"/>
              <a:t>Tools: Python,pandas,</a:t>
            </a:r>
            <a:r>
              <a:rPr lang="en-US" noProof="1"/>
              <a:t>Matplotlib</a:t>
            </a:r>
            <a:r>
              <a:rPr lang="en-US" dirty="0"/>
              <a:t>,Scikit-learn</a:t>
            </a:r>
          </a:p>
        </p:txBody>
      </p:sp>
    </p:spTree>
    <p:extLst>
      <p:ext uri="{BB962C8B-B14F-4D97-AF65-F5344CB8AC3E}">
        <p14:creationId xmlns:p14="http://schemas.microsoft.com/office/powerpoint/2010/main" val="2281069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8C4DB-1110-E23B-E3F4-8C70C844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39441B-8857-1045-44EB-F6E6678030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409102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7497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2EF56F-FDA1-51AB-1C95-2CD39989C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Project Flow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FD83E-B3F2-91E9-355D-5CFB2EDAC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1.Data Collection</a:t>
            </a:r>
          </a:p>
          <a:p>
            <a:r>
              <a:rPr lang="en-US" dirty="0"/>
              <a:t>2.data Preprocessing</a:t>
            </a:r>
          </a:p>
          <a:p>
            <a:r>
              <a:rPr lang="en-US" dirty="0"/>
              <a:t>3.Train-Test-Split</a:t>
            </a:r>
          </a:p>
          <a:p>
            <a:r>
              <a:rPr lang="en-US" dirty="0"/>
              <a:t>4.Model training(</a:t>
            </a:r>
            <a:r>
              <a:rPr lang="en-US" noProof="1"/>
              <a:t>RandpmForestRegressor</a:t>
            </a:r>
            <a:r>
              <a:rPr lang="en-US" dirty="0"/>
              <a:t>)</a:t>
            </a:r>
          </a:p>
          <a:p>
            <a:r>
              <a:rPr lang="en-US" dirty="0"/>
              <a:t>5.Evaluation(Metrics R2 score,</a:t>
            </a:r>
            <a:r>
              <a:rPr lang="en-US" noProof="1"/>
              <a:t>MAE</a:t>
            </a:r>
            <a:r>
              <a:rPr lang="en-US" dirty="0"/>
              <a:t>,MSE)</a:t>
            </a:r>
          </a:p>
          <a:p>
            <a:r>
              <a:rPr lang="en-US" dirty="0"/>
              <a:t>6.Prediction</a:t>
            </a:r>
          </a:p>
        </p:txBody>
      </p:sp>
    </p:spTree>
    <p:extLst>
      <p:ext uri="{BB962C8B-B14F-4D97-AF65-F5344CB8AC3E}">
        <p14:creationId xmlns:p14="http://schemas.microsoft.com/office/powerpoint/2010/main" val="20331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1D221394-A85D-7136-8130-89BA08AE7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626" y="1210"/>
            <a:ext cx="6586604" cy="6670522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8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D84C77-62D2-0DEA-FBE8-7CE1AE288758}"/>
              </a:ext>
            </a:extLst>
          </p:cNvPr>
          <p:cNvSpPr/>
          <p:nvPr/>
        </p:nvSpPr>
        <p:spPr>
          <a:xfrm>
            <a:off x="2775660" y="133705"/>
            <a:ext cx="5388428" cy="780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dirty="0">
                <a:solidFill>
                  <a:schemeClr val="bg1"/>
                </a:solidFill>
              </a:rPr>
              <a:t>Data Collection</a:t>
            </a:r>
            <a:r>
              <a:rPr lang="en-US" dirty="0">
                <a:solidFill>
                  <a:srgbClr val="000000"/>
                </a:solidFill>
              </a:rPr>
              <a:t>: From Kaggle</a:t>
            </a:r>
          </a:p>
          <a:p>
            <a:r>
              <a:rPr lang="en-US" dirty="0">
                <a:solidFill>
                  <a:schemeClr val="tx1"/>
                </a:solidFill>
              </a:rPr>
              <a:t>Load and read CSV file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4730555-7501-8F2A-8F41-9120F7A16111}"/>
              </a:ext>
            </a:extLst>
          </p:cNvPr>
          <p:cNvCxnSpPr/>
          <p:nvPr/>
        </p:nvCxnSpPr>
        <p:spPr>
          <a:xfrm>
            <a:off x="5293374" y="923904"/>
            <a:ext cx="13607" cy="318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02D12E9-9943-48B4-991A-D1C3F964C7D9}"/>
              </a:ext>
            </a:extLst>
          </p:cNvPr>
          <p:cNvSpPr/>
          <p:nvPr/>
        </p:nvSpPr>
        <p:spPr>
          <a:xfrm>
            <a:off x="2770728" y="1247125"/>
            <a:ext cx="5403812" cy="18306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/>
              <a:t>Data Preprocessing: </a:t>
            </a:r>
            <a:r>
              <a:rPr lang="en-US" dirty="0">
                <a:solidFill>
                  <a:schemeClr val="tx1"/>
                </a:solidFill>
              </a:rPr>
              <a:t>Remove Irrelevant columns</a:t>
            </a:r>
          </a:p>
          <a:p>
            <a:r>
              <a:rPr lang="en-US" dirty="0">
                <a:solidFill>
                  <a:schemeClr val="tx1"/>
                </a:solidFill>
              </a:rPr>
              <a:t>Checking and Handling null values</a:t>
            </a:r>
          </a:p>
          <a:p>
            <a:r>
              <a:rPr lang="en-US" dirty="0">
                <a:solidFill>
                  <a:schemeClr val="tx1"/>
                </a:solidFill>
              </a:rPr>
              <a:t>Encoding categorical data to numerical(</a:t>
            </a:r>
            <a:r>
              <a:rPr lang="en-US" noProof="1">
                <a:solidFill>
                  <a:schemeClr val="tx1"/>
                </a:solidFill>
              </a:rPr>
              <a:t>OnehotEncoding</a:t>
            </a:r>
            <a:r>
              <a:rPr lang="en-US" dirty="0">
                <a:solidFill>
                  <a:schemeClr val="tx1"/>
                </a:solidFill>
              </a:rPr>
              <a:t> )</a:t>
            </a:r>
          </a:p>
          <a:p>
            <a:r>
              <a:rPr lang="en-US" dirty="0">
                <a:solidFill>
                  <a:schemeClr val="tx1"/>
                </a:solidFill>
              </a:rPr>
              <a:t>No Scaling done as </a:t>
            </a:r>
            <a:r>
              <a:rPr lang="en-US" noProof="1">
                <a:solidFill>
                  <a:schemeClr val="tx1"/>
                </a:solidFill>
              </a:rPr>
              <a:t>randomForestRegressor</a:t>
            </a:r>
            <a:r>
              <a:rPr lang="en-US" dirty="0">
                <a:solidFill>
                  <a:schemeClr val="tx1"/>
                </a:solidFill>
              </a:rPr>
              <a:t> model</a:t>
            </a:r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F4010BF-4D54-8138-B482-67663EB3F504}"/>
              </a:ext>
            </a:extLst>
          </p:cNvPr>
          <p:cNvCxnSpPr/>
          <p:nvPr/>
        </p:nvCxnSpPr>
        <p:spPr>
          <a:xfrm>
            <a:off x="5359439" y="3088229"/>
            <a:ext cx="13607" cy="397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E28D406-876A-E69C-A301-A250CAFF9FEC}"/>
              </a:ext>
            </a:extLst>
          </p:cNvPr>
          <p:cNvSpPr/>
          <p:nvPr/>
        </p:nvSpPr>
        <p:spPr>
          <a:xfrm>
            <a:off x="2675676" y="3487372"/>
            <a:ext cx="5388428" cy="884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noProof="1"/>
              <a:t>FeatureEngineering</a:t>
            </a:r>
          </a:p>
          <a:p>
            <a:r>
              <a:rPr lang="en-US" dirty="0"/>
              <a:t>Data Split: </a:t>
            </a:r>
            <a:r>
              <a:rPr lang="en-US" dirty="0">
                <a:solidFill>
                  <a:schemeClr val="tx1"/>
                </a:solidFill>
              </a:rPr>
              <a:t>80% training , 20% for testing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C34E1E-DDFD-B138-9BEE-05589FA47F7F}"/>
              </a:ext>
            </a:extLst>
          </p:cNvPr>
          <p:cNvSpPr/>
          <p:nvPr/>
        </p:nvSpPr>
        <p:spPr>
          <a:xfrm>
            <a:off x="2770728" y="4970354"/>
            <a:ext cx="5398685" cy="14459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AlgorithmUsedForModelFit</a:t>
            </a:r>
            <a:r>
              <a:rPr lang="en-US" dirty="0"/>
              <a:t>:</a:t>
            </a:r>
            <a:r>
              <a:rPr lang="en-US" noProof="1">
                <a:solidFill>
                  <a:schemeClr val="tx1"/>
                </a:solidFill>
              </a:rPr>
              <a:t>RandomForestRegressor</a:t>
            </a:r>
          </a:p>
          <a:p>
            <a:r>
              <a:rPr lang="en-US" dirty="0">
                <a:solidFill>
                  <a:schemeClr val="tx1"/>
                </a:solidFill>
              </a:rPr>
              <a:t>Fit the model with training data</a:t>
            </a:r>
          </a:p>
          <a:p>
            <a:r>
              <a:rPr lang="en-US" dirty="0">
                <a:solidFill>
                  <a:schemeClr val="tx1"/>
                </a:solidFill>
              </a:rPr>
              <a:t>Predict with testing data</a:t>
            </a:r>
          </a:p>
          <a:p>
            <a:r>
              <a:rPr lang="en-US" dirty="0">
                <a:solidFill>
                  <a:schemeClr val="tx1"/>
                </a:solidFill>
              </a:rPr>
              <a:t>Metrics: r2_score,mean_absolute_error</a:t>
            </a:r>
          </a:p>
          <a:p>
            <a:r>
              <a:rPr lang="en-US" dirty="0">
                <a:solidFill>
                  <a:schemeClr val="tx1"/>
                </a:solidFill>
              </a:rPr>
              <a:t>Deploy the model  with new data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CD2B2F-5E17-04CA-ED0F-DC5BCC62DE38}"/>
              </a:ext>
            </a:extLst>
          </p:cNvPr>
          <p:cNvCxnSpPr/>
          <p:nvPr/>
        </p:nvCxnSpPr>
        <p:spPr>
          <a:xfrm>
            <a:off x="5373046" y="4371640"/>
            <a:ext cx="13607" cy="598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977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FC44B6-2973-7DA8-E20F-56C297461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ptos"/>
              </a:rPr>
              <a:t>Conclusion</a:t>
            </a:r>
            <a:br>
              <a:rPr lang="en-US" sz="4800" b="1" dirty="0">
                <a:solidFill>
                  <a:schemeClr val="bg1"/>
                </a:solidFill>
                <a:latin typeface="Aptos"/>
              </a:rPr>
            </a:br>
            <a:r>
              <a:rPr lang="en-US" sz="4800" b="1" dirty="0">
                <a:solidFill>
                  <a:schemeClr val="bg1"/>
                </a:solidFill>
                <a:latin typeface="Aptos"/>
              </a:rPr>
              <a:t>        And </a:t>
            </a:r>
            <a:br>
              <a:rPr lang="en-US" sz="4800" b="1" dirty="0">
                <a:solidFill>
                  <a:schemeClr val="bg1"/>
                </a:solidFill>
                <a:latin typeface="Aptos"/>
              </a:rPr>
            </a:br>
            <a:r>
              <a:rPr lang="en-US" sz="4800" b="1" dirty="0">
                <a:solidFill>
                  <a:schemeClr val="bg1"/>
                </a:solidFill>
                <a:latin typeface="Aptos"/>
              </a:rPr>
              <a:t>Future Work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31B40-4BC9-07B4-9A4F-2A2111F4B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b="1" dirty="0">
                <a:solidFill>
                  <a:schemeClr val="tx2"/>
                </a:solidFill>
                <a:highlight>
                  <a:srgbClr val="FFFFFF"/>
                </a:highlight>
              </a:rPr>
              <a:t>Conclusion:</a:t>
            </a:r>
          </a:p>
          <a:p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</a:rPr>
              <a:t>The developed machine learning system successfully predicts crop yield using environmental, soil, and agricultural features</a:t>
            </a:r>
            <a:endParaRPr lang="en-US" sz="2400" b="1" dirty="0">
              <a:solidFill>
                <a:schemeClr val="tx2"/>
              </a:solidFill>
              <a:highlight>
                <a:srgbClr val="FFFFFF"/>
              </a:highlight>
            </a:endParaRPr>
          </a:p>
          <a:p>
            <a:endParaRPr lang="en-US" sz="1800" b="1">
              <a:solidFill>
                <a:schemeClr val="tx2"/>
              </a:solidFill>
              <a:highlight>
                <a:srgbClr val="FFFFFF"/>
              </a:highlight>
            </a:endParaRPr>
          </a:p>
          <a:p>
            <a:r>
              <a:rPr lang="en-US" sz="2400" b="1" dirty="0">
                <a:solidFill>
                  <a:schemeClr val="tx2"/>
                </a:solidFill>
                <a:highlight>
                  <a:srgbClr val="FFFFFF"/>
                </a:highlight>
              </a:rPr>
              <a:t>Future Work</a:t>
            </a:r>
            <a:endParaRPr lang="en-US" sz="2400" dirty="0">
              <a:solidFill>
                <a:schemeClr val="tx2"/>
              </a:solidFill>
              <a:highlight>
                <a:srgbClr val="FFFFFF"/>
              </a:highlight>
            </a:endParaRPr>
          </a:p>
          <a:p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</a:rPr>
              <a:t>Incorporate weather forecast APIs for dynamic predictions</a:t>
            </a:r>
          </a:p>
          <a:p>
            <a:r>
              <a:rPr lang="en-US" sz="2400" dirty="0">
                <a:solidFill>
                  <a:schemeClr val="tx2"/>
                </a:solidFill>
                <a:highlight>
                  <a:srgbClr val="FFFFFF"/>
                </a:highlight>
              </a:rPr>
              <a:t>Deploy as a web or mobile application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246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Crop Yield Prediction using Environmental Data</vt:lpstr>
      <vt:lpstr>PowerPoint Presentation</vt:lpstr>
      <vt:lpstr>Problem Statement</vt:lpstr>
      <vt:lpstr>Project Flow</vt:lpstr>
      <vt:lpstr>PowerPoint Presentation</vt:lpstr>
      <vt:lpstr>PowerPoint Presentation</vt:lpstr>
      <vt:lpstr>Conclusion         And 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244</cp:revision>
  <dcterms:created xsi:type="dcterms:W3CDTF">2026-02-10T19:37:02Z</dcterms:created>
  <dcterms:modified xsi:type="dcterms:W3CDTF">2026-02-13T13:27:15Z</dcterms:modified>
</cp:coreProperties>
</file>